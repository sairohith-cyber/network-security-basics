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3258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ptos Display"/>
              </a:rPr>
              <a:t>WEEK 3
CYBERSECURITY ASSESSMENT</a:t>
            </a:r>
          </a:p>
          <a:p>
            <a:pPr>
              <a:spcBef>
                <a:spcPts val="1400"/>
              </a:spcBef>
              <a:defRPr sz="1700">
                <a:solidFill>
                  <a:srgbClr val="D2E1EB"/>
                </a:solidFill>
              </a:defRPr>
            </a:pPr>
            <a:r>
              <a:t>Nmap • Wireshark • Vulnerability Assessment • Security Hardening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3886200"/>
            <a:ext cx="4754880" cy="114300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3886200"/>
            <a:ext cx="73152" cy="1143000"/>
          </a:xfrm>
          <a:prstGeom prst="rect">
            <a:avLst/>
          </a:prstGeom>
          <a:solidFill>
            <a:srgbClr val="36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4023360"/>
            <a:ext cx="141019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Presented by</a:t>
            </a:r>
          </a:p>
          <a:p>
            <a:r>
              <a:rPr lang="en-US" dirty="0"/>
              <a:t>Sairohith H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806440" y="3886200"/>
            <a:ext cx="4754880" cy="114300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06440" y="3886200"/>
            <a:ext cx="73152" cy="1143000"/>
          </a:xfrm>
          <a:prstGeom prst="rect">
            <a:avLst/>
          </a:prstGeom>
          <a:solidFill>
            <a:srgbClr val="27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07607" y="4023360"/>
            <a:ext cx="281096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Intern Id</a:t>
            </a:r>
          </a:p>
          <a:p>
            <a:r>
              <a:rPr lang="en-IN" dirty="0"/>
              <a:t>DG/SEPTEMBER/CYBER/131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2.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dirty="0"/>
              <a:t>• Assess an authorized small internal lab network using practical security tools.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dirty="0"/>
              <a:t>• Discover hosts and exposed services with Nmap.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dirty="0"/>
              <a:t>• Capture and understand network traffic with Wireshark.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dirty="0"/>
              <a:t>• Identify security findings and explain their risk.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dirty="0"/>
              <a:t>• Apply basic firewall hardening and verify the change with a follow-up scan.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E76"/>
                </a:solidFill>
              </a:rPr>
              <a:t>Week 3 Cybersecurity Assessment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3. Lab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110327"/>
            <a:ext cx="6135625" cy="5250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The lab traffic was kept inside the authorized VirtualBox Host-Only network, which provided an isolated environment for carrying out the security testing without directly exposing the practical activity to external networks.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The main target used in the scans was 192.168.233.1, which was the Windows system selected for the assessment.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Kali Linux was used as the assessment machine. Nmap was run from Kali to discover the target, identify open ports, and examine the services running on the Windows system.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Wireshark was used to capture and </a:t>
            </a:r>
            <a:r>
              <a:rPr lang="en-IN" sz="1500" dirty="0" err="1"/>
              <a:t>analyze</a:t>
            </a:r>
            <a:r>
              <a:rPr lang="en-IN" sz="1500" dirty="0"/>
              <a:t> the traffic between the assessment machine and the target. This helped in understanding how different protocols and connection attempts appeared at packet level.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500" dirty="0"/>
              <a:t>The Host-Only network used the 192.168.233.0/24 subnet, allowing the lab systems to communicate with each other within the controlled environment.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E76"/>
                </a:solidFill>
              </a:rPr>
              <a:t>Week 3 Cybersecurity Assessment  |  3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C49E0E-A67C-06DE-4B8E-4B8D2BD0F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3" y="637975"/>
            <a:ext cx="4730191" cy="6142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4. Tools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74720" cy="146304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73152" cy="1463040"/>
          </a:xfrm>
          <a:prstGeom prst="rect">
            <a:avLst/>
          </a:prstGeom>
          <a:solidFill>
            <a:srgbClr val="27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463039"/>
            <a:ext cx="2642616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Nmap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dirty="0"/>
              <a:t>Host discovery, port scanning, service/version detection, OS detection, SYN, UDP and NSE scans.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25880"/>
            <a:ext cx="3474720" cy="146304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325880"/>
            <a:ext cx="73152" cy="1463040"/>
          </a:xfrm>
          <a:prstGeom prst="rect">
            <a:avLst/>
          </a:prstGeom>
          <a:solidFill>
            <a:srgbClr val="36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463039"/>
            <a:ext cx="26609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Wireshark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dirty="0"/>
              <a:t>Packet capture, filtering and protocol-level traffic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25880"/>
            <a:ext cx="3474720" cy="146304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325880"/>
            <a:ext cx="73152" cy="1463040"/>
          </a:xfrm>
          <a:prstGeom prst="rect">
            <a:avLst/>
          </a:prstGeom>
          <a:solidFill>
            <a:srgbClr val="AA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463039"/>
            <a:ext cx="25968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Kali Linux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dirty="0"/>
              <a:t>Assessment environment used to run the security tools.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264408"/>
            <a:ext cx="3474720" cy="146304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" y="3264408"/>
            <a:ext cx="73152" cy="1463040"/>
          </a:xfrm>
          <a:prstGeom prst="rect">
            <a:avLst/>
          </a:prstGeom>
          <a:solidFill>
            <a:srgbClr val="27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401568"/>
            <a:ext cx="24048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VirtualBox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dirty="0"/>
              <a:t>Created the isolated lab VMs and Host-Only network.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90288" y="3211484"/>
            <a:ext cx="3474720" cy="146304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4462272" y="3264408"/>
            <a:ext cx="73152" cy="1463040"/>
          </a:xfrm>
          <a:prstGeom prst="rect">
            <a:avLst/>
          </a:prstGeom>
          <a:solidFill>
            <a:srgbClr val="36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68826" y="3429000"/>
            <a:ext cx="25877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Windows Firewall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dirty="0"/>
              <a:t>Used to restrict inbound access during hardening.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E76"/>
                </a:solidFill>
              </a:rPr>
              <a:t>Week 3 Cybersecurity Assessment  |  4</a:t>
            </a:r>
          </a:p>
        </p:txBody>
      </p:sp>
      <p:sp>
        <p:nvSpPr>
          <p:cNvPr id="21" name="Rounded Rectangle 15">
            <a:extLst>
              <a:ext uri="{FF2B5EF4-FFF2-40B4-BE49-F238E27FC236}">
                <a16:creationId xmlns:a16="http://schemas.microsoft.com/office/drawing/2014/main" id="{641713F2-203A-DEF4-0ADD-E40A725C8CB0}"/>
              </a:ext>
            </a:extLst>
          </p:cNvPr>
          <p:cNvSpPr/>
          <p:nvPr/>
        </p:nvSpPr>
        <p:spPr>
          <a:xfrm>
            <a:off x="8375904" y="3211484"/>
            <a:ext cx="3474720" cy="146304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02E1B6-11C0-B1D1-5AA7-8E4A796D8996}"/>
              </a:ext>
            </a:extLst>
          </p:cNvPr>
          <p:cNvSpPr txBox="1"/>
          <p:nvPr/>
        </p:nvSpPr>
        <p:spPr>
          <a:xfrm>
            <a:off x="8577072" y="3348644"/>
            <a:ext cx="258775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Windows </a:t>
            </a:r>
            <a:r>
              <a:rPr lang="en-US" sz="1700" b="1" dirty="0">
                <a:solidFill>
                  <a:srgbClr val="183148"/>
                </a:solidFill>
              </a:rPr>
              <a:t>11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lang="en-US" dirty="0"/>
              <a:t>An another OS as a Base Machine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5A188D6-2A6C-CE91-A357-82E51A8A7E90}"/>
              </a:ext>
            </a:extLst>
          </p:cNvPr>
          <p:cNvSpPr/>
          <p:nvPr/>
        </p:nvSpPr>
        <p:spPr>
          <a:xfrm>
            <a:off x="8334756" y="3211484"/>
            <a:ext cx="73152" cy="1463040"/>
          </a:xfrm>
          <a:prstGeom prst="rect">
            <a:avLst/>
          </a:prstGeom>
          <a:solidFill>
            <a:srgbClr val="36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5. Nmap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12064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83148"/>
                </a:solidFill>
              </a:rPr>
              <a:t>Main commands</a:t>
            </a:r>
          </a:p>
          <a:p>
            <a:pPr>
              <a:spcAft>
                <a:spcPts val="600"/>
              </a:spcAft>
              <a:defRPr sz="1200">
                <a:solidFill>
                  <a:srgbClr val="232A30"/>
                </a:solidFill>
                <a:latin typeface="Consolas"/>
              </a:defRPr>
            </a:pPr>
            <a:r>
              <a:t>nmap -sn 192.168.233.1/24</a:t>
            </a:r>
          </a:p>
          <a:p>
            <a:pPr>
              <a:spcAft>
                <a:spcPts val="600"/>
              </a:spcAft>
              <a:defRPr sz="1200">
                <a:solidFill>
                  <a:srgbClr val="232A30"/>
                </a:solidFill>
                <a:latin typeface="Consolas"/>
              </a:defRPr>
            </a:pPr>
            <a:r>
              <a:t>nmap 192.168.233.1</a:t>
            </a:r>
          </a:p>
          <a:p>
            <a:pPr>
              <a:spcAft>
                <a:spcPts val="600"/>
              </a:spcAft>
              <a:defRPr sz="1200">
                <a:solidFill>
                  <a:srgbClr val="232A30"/>
                </a:solidFill>
                <a:latin typeface="Consolas"/>
              </a:defRPr>
            </a:pPr>
            <a:r>
              <a:t>nmap -sV 192.168.233.1</a:t>
            </a:r>
          </a:p>
          <a:p>
            <a:pPr>
              <a:spcAft>
                <a:spcPts val="600"/>
              </a:spcAft>
              <a:defRPr sz="1200">
                <a:solidFill>
                  <a:srgbClr val="232A30"/>
                </a:solidFill>
                <a:latin typeface="Consolas"/>
              </a:defRPr>
            </a:pPr>
            <a:r>
              <a:t>nmap -O 192.168.233.1</a:t>
            </a:r>
          </a:p>
          <a:p>
            <a:pPr>
              <a:spcAft>
                <a:spcPts val="600"/>
              </a:spcAft>
              <a:defRPr sz="1200">
                <a:solidFill>
                  <a:srgbClr val="232A30"/>
                </a:solidFill>
                <a:latin typeface="Consolas"/>
              </a:defRPr>
            </a:pPr>
            <a:r>
              <a:t>nmap -sS 192.168.233.1</a:t>
            </a:r>
          </a:p>
          <a:p>
            <a:pPr>
              <a:spcAft>
                <a:spcPts val="600"/>
              </a:spcAft>
              <a:defRPr sz="1200">
                <a:solidFill>
                  <a:srgbClr val="232A30"/>
                </a:solidFill>
                <a:latin typeface="Consolas"/>
              </a:defRPr>
            </a:pPr>
            <a:r>
              <a:t>nmap -sU --top-ports 20 192.168.233.1</a:t>
            </a:r>
          </a:p>
          <a:p>
            <a:pPr>
              <a:spcAft>
                <a:spcPts val="600"/>
              </a:spcAft>
              <a:defRPr sz="1200">
                <a:solidFill>
                  <a:srgbClr val="232A30"/>
                </a:solidFill>
                <a:latin typeface="Consolas"/>
              </a:defRPr>
            </a:pPr>
            <a:r>
              <a:t>nmap --script vuln 192.168.233.1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234440"/>
            <a:ext cx="4937760" cy="114300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72200" y="1234440"/>
            <a:ext cx="73152" cy="1143000"/>
          </a:xfrm>
          <a:prstGeom prst="rect">
            <a:avLst/>
          </a:prstGeom>
          <a:solidFill>
            <a:srgbClr val="27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73368" y="1371600"/>
            <a:ext cx="4572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148"/>
                </a:solidFill>
              </a:rPr>
              <a:t>Host discovery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t>The lab network was scanned to identify active hosts.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651760"/>
            <a:ext cx="4937760" cy="114300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72200" y="2651760"/>
            <a:ext cx="73152" cy="1143000"/>
          </a:xfrm>
          <a:prstGeom prst="rect">
            <a:avLst/>
          </a:prstGeom>
          <a:solidFill>
            <a:srgbClr val="36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3368" y="2788920"/>
            <a:ext cx="4572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148"/>
                </a:solidFill>
              </a:rPr>
              <a:t>Service detection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t>Nmap identified the services behind the open 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069080"/>
            <a:ext cx="4937760" cy="114300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4069080"/>
            <a:ext cx="73152" cy="1143000"/>
          </a:xfrm>
          <a:prstGeom prst="rect">
            <a:avLst/>
          </a:prstGeom>
          <a:solidFill>
            <a:srgbClr val="AA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4206240"/>
            <a:ext cx="4572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148"/>
                </a:solidFill>
              </a:rPr>
              <a:t>Advanced scans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t>SYN, UDP, OS and vulnerability-script scans added more detail.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E76"/>
                </a:solidFill>
              </a:rPr>
              <a:t>Week 3 Cybersecurity Assessment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6. Nmap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3444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Port</a:t>
                      </a:r>
                    </a:p>
                  </a:txBody>
                  <a:tcPr>
                    <a:solidFill>
                      <a:srgbClr val="1831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Protocol</a:t>
                      </a:r>
                    </a:p>
                  </a:txBody>
                  <a:tcPr>
                    <a:solidFill>
                      <a:srgbClr val="1831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1831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831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A30"/>
                          </a:solidFill>
                        </a:rPr>
                        <a:t>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A30"/>
                          </a:solidFill>
                        </a:rPr>
                        <a:t>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A30"/>
                          </a:solidFill>
                        </a:rPr>
                        <a:t>MSRPC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A30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A30"/>
                          </a:solidFill>
                        </a:rPr>
                        <a:t>139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A30"/>
                          </a:solidFill>
                        </a:rPr>
                        <a:t>TCP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A30"/>
                          </a:solidFill>
                        </a:rPr>
                        <a:t>NetBIOS-SSN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A30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A30"/>
                          </a:solidFill>
                        </a:rPr>
                        <a:t>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A30"/>
                          </a:solidFill>
                        </a:rPr>
                        <a:t>TCP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A30"/>
                          </a:solidFill>
                        </a:rPr>
                        <a:t>Microsoft-DS / SMB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32A30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914400" y="3703320"/>
            <a:ext cx="4846320" cy="123444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3703320"/>
            <a:ext cx="73152" cy="1234440"/>
          </a:xfrm>
          <a:prstGeom prst="rect">
            <a:avLst/>
          </a:prstGeom>
          <a:solidFill>
            <a:srgbClr val="27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3840480"/>
            <a:ext cx="4480559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148"/>
                </a:solidFill>
              </a:rPr>
              <a:t>Baseline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t>997 other TCP ports were reported as filtered in the basic scan.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03320"/>
            <a:ext cx="4846320" cy="123444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3703320"/>
            <a:ext cx="73152" cy="1234440"/>
          </a:xfrm>
          <a:prstGeom prst="rect">
            <a:avLst/>
          </a:prstGeom>
          <a:solidFill>
            <a:srgbClr val="36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3840480"/>
            <a:ext cx="3383281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Service detection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dirty="0"/>
              <a:t>135 was identified as Microsoft Windows RPC; 139 as Windows NetBIOS-SSN; 445 as Microsoft-DS.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E76"/>
                </a:solidFill>
              </a:rPr>
              <a:t>Week 3 Cybersecurity Assessment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7. Wireshark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A30"/>
                </a:solidFill>
                <a:latin typeface="Aptos"/>
              </a:defRPr>
            </a:pPr>
            <a:r>
              <a:t>• Traffic was captured on the authorized lab interface.</a:t>
            </a:r>
          </a:p>
          <a:p>
            <a:pPr>
              <a:spcAft>
                <a:spcPts val="1000"/>
              </a:spcAft>
              <a:defRPr sz="1700">
                <a:solidFill>
                  <a:srgbClr val="232A30"/>
                </a:solidFill>
                <a:latin typeface="Aptos"/>
              </a:defRPr>
            </a:pPr>
            <a:r>
              <a:t>• Protocols observed included TCP, UDP, DNS, ICMP and ARP.</a:t>
            </a:r>
          </a:p>
          <a:p>
            <a:pPr>
              <a:spcAft>
                <a:spcPts val="1000"/>
              </a:spcAft>
              <a:defRPr sz="1700">
                <a:solidFill>
                  <a:srgbClr val="232A30"/>
                </a:solidFill>
                <a:latin typeface="Aptos"/>
              </a:defRPr>
            </a:pPr>
            <a:r>
              <a:t>• Useful filters included: arp, icmp, tcp, udp, dns.</a:t>
            </a:r>
          </a:p>
          <a:p>
            <a:pPr>
              <a:spcAft>
                <a:spcPts val="1000"/>
              </a:spcAft>
              <a:defRPr sz="1700">
                <a:solidFill>
                  <a:srgbClr val="232A30"/>
                </a:solidFill>
                <a:latin typeface="Aptos"/>
              </a:defRPr>
            </a:pPr>
            <a:r>
              <a:t>• TCP SYN and RST filters were used to focus on connection attempts.</a:t>
            </a:r>
          </a:p>
          <a:p>
            <a:pPr>
              <a:spcAft>
                <a:spcPts val="1000"/>
              </a:spcAft>
              <a:defRPr sz="1700">
                <a:solidFill>
                  <a:srgbClr val="232A30"/>
                </a:solidFill>
                <a:latin typeface="Aptos"/>
              </a:defRPr>
            </a:pPr>
            <a:r>
              <a:t>• Packet details were checked for time, source, destination, ports, flags and protocol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257800"/>
            <a:ext cx="8503920" cy="68580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0" y="5257800"/>
            <a:ext cx="73152" cy="685800"/>
          </a:xfrm>
          <a:prstGeom prst="rect">
            <a:avLst/>
          </a:prstGeom>
          <a:solidFill>
            <a:srgbClr val="36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29968" y="528066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Key point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dirty="0"/>
              <a:t>Wireshark provided packet-level evidence behind the Nmap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E76"/>
                </a:solidFill>
              </a:rPr>
              <a:t>Week 3 Cybersecurity Assessment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8. Security Findings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143000"/>
          <a:ext cx="108356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62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>
                    <a:solidFill>
                      <a:srgbClr val="1831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Evidence</a:t>
                      </a:r>
                    </a:p>
                  </a:txBody>
                  <a:tcPr>
                    <a:solidFill>
                      <a:srgbClr val="1831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831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SMB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TCP/445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Multiple Windows services exposed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135, 139 and 445 open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High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NetBIOS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TCP/139 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RPC exposure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TCP/135 open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628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Additional reachable high ports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Packet investigation showed 61728, 44505 and 52325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32A30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62356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646E76"/>
                </a:solidFill>
              </a:rPr>
              <a:t>Risk ratings describe exposure and potential impact; they do not prove that a service is exploitable.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E76"/>
                </a:solidFill>
              </a:rPr>
              <a:t>Week 3 Cybersecurity Assessment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9. Vulnerability / Risk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34440"/>
            <a:ext cx="347472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73152" cy="1371600"/>
          </a:xfrm>
          <a:prstGeom prst="rect">
            <a:avLst/>
          </a:prstGeom>
          <a:solidFill>
            <a:srgbClr val="A04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1371600"/>
            <a:ext cx="2221992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High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dirty="0"/>
              <a:t>SMB exposure and combined Windows-service exposure need tighter access control.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47472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234440"/>
            <a:ext cx="73152" cy="1371600"/>
          </a:xfrm>
          <a:prstGeom prst="rect">
            <a:avLst/>
          </a:prstGeom>
          <a:solidFill>
            <a:srgbClr val="AA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90288" y="1371600"/>
            <a:ext cx="2395728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Medium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dirty="0"/>
              <a:t>RPC and NetBIOS exposure should be limited to systems that need them.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34440"/>
            <a:ext cx="3474720" cy="137160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234440"/>
            <a:ext cx="73152" cy="1371600"/>
          </a:xfrm>
          <a:prstGeom prst="rect">
            <a:avLst/>
          </a:prstGeom>
          <a:solidFill>
            <a:srgbClr val="36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371600"/>
            <a:ext cx="2651760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No confirmed critical issue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dirty="0"/>
              <a:t>The Nmap NSE output did not establish a confirmed critical software vulnerability.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A30"/>
                </a:solidFill>
                <a:latin typeface="Aptos"/>
              </a:defRPr>
            </a:pPr>
            <a:r>
              <a:t>• TCP/445: security-sensitive SMB exposure.</a:t>
            </a:r>
          </a:p>
          <a:p>
            <a:pPr>
              <a:spcAft>
                <a:spcPts val="1000"/>
              </a:spcAft>
              <a:defRPr sz="1500">
                <a:solidFill>
                  <a:srgbClr val="232A30"/>
                </a:solidFill>
                <a:latin typeface="Aptos"/>
              </a:defRPr>
            </a:pPr>
            <a:r>
              <a:t>• TCP/139: legacy NetBIOS exposure.</a:t>
            </a:r>
          </a:p>
          <a:p>
            <a:pPr>
              <a:spcAft>
                <a:spcPts val="1000"/>
              </a:spcAft>
              <a:defRPr sz="1500">
                <a:solidFill>
                  <a:srgbClr val="232A30"/>
                </a:solidFill>
                <a:latin typeface="Aptos"/>
              </a:defRPr>
            </a:pPr>
            <a:r>
              <a:t>• TCP/135: Windows RPC exposure.</a:t>
            </a:r>
          </a:p>
          <a:p>
            <a:pPr>
              <a:spcAft>
                <a:spcPts val="1000"/>
              </a:spcAft>
              <a:defRPr sz="1500">
                <a:solidFill>
                  <a:srgbClr val="232A30"/>
                </a:solidFill>
                <a:latin typeface="Aptos"/>
              </a:defRPr>
            </a:pPr>
            <a:r>
              <a:t>• Additional high-numbered ports were observed, but their applications were not identified.</a:t>
            </a:r>
          </a:p>
          <a:p>
            <a:pPr>
              <a:spcAft>
                <a:spcPts val="1000"/>
              </a:spcAft>
              <a:defRPr sz="1500">
                <a:solidFill>
                  <a:srgbClr val="232A30"/>
                </a:solidFill>
                <a:latin typeface="Aptos"/>
              </a:defRPr>
            </a:pPr>
            <a:r>
              <a:t>• Failed SMB negotiation in two NSE checks was treated as inconclusive, not as a confirmed vulnerability.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E76"/>
                </a:solidFill>
              </a:rPr>
              <a:t>Week 3 Cybersecurity Assessment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10. Hardening Performed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280160"/>
            <a:ext cx="3291840" cy="182880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280160"/>
            <a:ext cx="73152" cy="1828800"/>
          </a:xfrm>
          <a:prstGeom prst="rect">
            <a:avLst/>
          </a:prstGeom>
          <a:solidFill>
            <a:srgbClr val="27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1417319"/>
            <a:ext cx="2066544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TCP/135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dirty="0"/>
              <a:t>Inbound RPC access restricted with a Windows Firewall block rule.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280160"/>
            <a:ext cx="3291840" cy="182880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434840" y="1280160"/>
            <a:ext cx="73152" cy="1828800"/>
          </a:xfrm>
          <a:prstGeom prst="rect">
            <a:avLst/>
          </a:prstGeom>
          <a:solidFill>
            <a:srgbClr val="AA7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36007" y="1417319"/>
            <a:ext cx="2322577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TCP/139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dirty="0"/>
              <a:t>Inbound NetBIOS access restricted with a Windows Firewall block rule.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280160"/>
            <a:ext cx="3291840" cy="182880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046720" y="1280160"/>
            <a:ext cx="73152" cy="1828800"/>
          </a:xfrm>
          <a:prstGeom prst="rect">
            <a:avLst/>
          </a:prstGeom>
          <a:solidFill>
            <a:srgbClr val="36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47888" y="1417319"/>
            <a:ext cx="2359152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dirty="0">
                <a:solidFill>
                  <a:srgbClr val="183148"/>
                </a:solidFill>
              </a:rPr>
              <a:t>TCP/445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rPr dirty="0"/>
              <a:t>Inbound SMB access restricted with a Windows Firewall block rule.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9476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  <a:latin typeface="Aptos"/>
              </a:defRPr>
            </a:pPr>
            <a:r>
              <a:t>• The changes were made on the authorized Windows target.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  <a:latin typeface="Aptos"/>
              </a:defRPr>
            </a:pPr>
            <a:r>
              <a:t>• The goal was to reduce unnecessary network exposure.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  <a:latin typeface="Aptos"/>
              </a:defRPr>
            </a:pPr>
            <a:r>
              <a:t>• The correct verification method is a Kali-to-Windows Nmap scan after the firewall change.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E76"/>
                </a:solidFill>
              </a:rPr>
              <a:t>Week 3 Cybersecurity Assessment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11. Before vs After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25880"/>
          <a:ext cx="106984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1831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>
                    <a:solidFill>
                      <a:srgbClr val="1831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831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>
                    <a:solidFill>
                      <a:srgbClr val="1831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A30"/>
                          </a:solidFill>
                        </a:rPr>
                        <a:t>TCP/135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A30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A30"/>
                          </a:solidFill>
                        </a:rPr>
                        <a:t>Inbound firewall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A30"/>
                          </a:solidFill>
                        </a:rPr>
                        <a:t>Use actual post-hardening Nmap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A30"/>
                          </a:solidFill>
                        </a:rPr>
                        <a:t>TCP/139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A30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A30"/>
                          </a:solidFill>
                        </a:rPr>
                        <a:t>Inbound firewall block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A30"/>
                          </a:solidFill>
                        </a:rPr>
                        <a:t>Use actual post-hardening Nmap result</a:t>
                      </a:r>
                    </a:p>
                  </a:txBody>
                  <a:tcPr>
                    <a:solidFill>
                      <a:srgbClr val="EF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A30"/>
                          </a:solidFill>
                        </a:rPr>
                        <a:t>TCP/445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A30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A30"/>
                          </a:solidFill>
                        </a:rPr>
                        <a:t>Inbound firewall block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32A30"/>
                          </a:solidFill>
                        </a:rPr>
                        <a:t>Use actual post-hardening Nmap result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1097280" y="4069080"/>
            <a:ext cx="9966960" cy="1097280"/>
          </a:xfrm>
          <a:prstGeom prst="roundRect">
            <a:avLst/>
          </a:prstGeom>
          <a:solidFill>
            <a:srgbClr val="EFF6FA"/>
          </a:solidFill>
          <a:ln>
            <a:solidFill>
              <a:srgbClr val="CD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" y="4069080"/>
            <a:ext cx="73152" cy="1097280"/>
          </a:xfrm>
          <a:prstGeom prst="rect">
            <a:avLst/>
          </a:prstGeom>
          <a:solidFill>
            <a:srgbClr val="36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98448" y="4206240"/>
            <a:ext cx="9601200" cy="822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83148"/>
                </a:solidFill>
              </a:rPr>
              <a:t>Evidence rule</a:t>
            </a:r>
          </a:p>
          <a:p>
            <a:pPr>
              <a:spcBef>
                <a:spcPts val="600"/>
              </a:spcBef>
              <a:defRPr sz="1300">
                <a:solidFill>
                  <a:srgbClr val="232A30"/>
                </a:solidFill>
              </a:defRPr>
            </a:pPr>
            <a:r>
              <a:t>The final After column must match the actual Nmap result. No result should be changed or assumed.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E76"/>
                </a:solidFill>
              </a:rPr>
              <a:t>Week 3 Cybersecurity Assessment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1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064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 Display"/>
              </a:rPr>
              <a:t>12.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  <a:latin typeface="Aptos"/>
              </a:defRPr>
            </a:pPr>
            <a:r>
              <a:t>• Keep Windows and installed software patched and up to date.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  <a:latin typeface="Aptos"/>
              </a:defRPr>
            </a:pPr>
            <a:r>
              <a:t>• Allow TCP/135, TCP/139 and TCP/445 only from systems that require them.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  <a:latin typeface="Aptos"/>
              </a:defRPr>
            </a:pPr>
            <a:r>
              <a:t>• Disable NetBIOS and other legacy services when they are not needed.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  <a:latin typeface="Aptos"/>
              </a:defRPr>
            </a:pPr>
            <a:r>
              <a:t>• Review SMB shares and remove unnecessary sharing.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  <a:latin typeface="Aptos"/>
              </a:defRPr>
            </a:pPr>
            <a:r>
              <a:t>• Use a least-privilege inbound firewall policy.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  <a:latin typeface="Aptos"/>
              </a:defRPr>
            </a:pPr>
            <a:r>
              <a:t>• Identify and review any unexpected high-numbered listening ports.</a:t>
            </a:r>
          </a:p>
          <a:p>
            <a:pPr>
              <a:spcAft>
                <a:spcPts val="1000"/>
              </a:spcAft>
              <a:defRPr sz="1600">
                <a:solidFill>
                  <a:srgbClr val="232A30"/>
                </a:solidFill>
                <a:latin typeface="Aptos"/>
              </a:defRPr>
            </a:pPr>
            <a:r>
              <a:t>• Repeat Nmap scans after configuration changes to confirm the result.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46E76"/>
                </a:solidFill>
              </a:rPr>
              <a:t>Week 3 Cybersecurity Assessment  |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1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9728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 Display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24128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• This week connected network scanning with packet-level analysis.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• Nmap showed the main exposed Windows services: 135, 139 and 445.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• Wireshark helped explain TCP connection attempts and other network traffic.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• The assessment focused on reducing unnecessary service exposure.</a:t>
            </a:r>
          </a:p>
          <a:p>
            <a:pPr>
              <a:spcAft>
                <a:spcPts val="1000"/>
              </a:spcAft>
              <a:defRPr sz="1800">
                <a:solidFill>
                  <a:srgbClr val="232A30"/>
                </a:solidFill>
                <a:latin typeface="Aptos"/>
              </a:defRPr>
            </a:pPr>
            <a:r>
              <a:rPr dirty="0">
                <a:solidFill>
                  <a:schemeClr val="bg1"/>
                </a:solidFill>
              </a:rPr>
              <a:t>• Firewall hardening was applied and the final Nmap result should be used to confirm the change.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623560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D2E1EB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1068</Words>
  <Application>Microsoft Office PowerPoint</Application>
  <PresentationFormat>Widescreen</PresentationFormat>
  <Paragraphs>162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Sairohith H</cp:lastModifiedBy>
  <cp:revision>4</cp:revision>
  <dcterms:created xsi:type="dcterms:W3CDTF">2013-01-27T09:14:16Z</dcterms:created>
  <dcterms:modified xsi:type="dcterms:W3CDTF">2026-09-21T07:10:43Z</dcterms:modified>
  <cp:category/>
</cp:coreProperties>
</file>